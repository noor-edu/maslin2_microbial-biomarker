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3"/>
  </p:sldMasterIdLst>
  <p:notesMasterIdLst>
    <p:notesMasterId r:id="rId8"/>
  </p:notesMasterIdLst>
  <p:sldIdLst>
    <p:sldId id="256" r:id="rId4"/>
    <p:sldId id="347" r:id="rId5"/>
    <p:sldId id="260" r:id="rId6"/>
    <p:sldId id="263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A50BD-CD4B-433B-B24F-3CDA8BEF9CDB}" v="1" dt="2024-06-02T03:34:53.259"/>
  </p1510:revLst>
</p1510:revInfo>
</file>

<file path=ppt/tableStyles.xml><?xml version="1.0" encoding="utf-8"?>
<a:tblStyleLst xmlns:a="http://schemas.openxmlformats.org/drawingml/2006/main" def="{E04253F3-95F6-40FD-9DF4-E374C2BB6FF9}">
  <a:tblStyle styleId="{E04253F3-95F6-40FD-9DF4-E374C2BB6F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57593-6D17-87D1-18AA-8F44C5B85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12130ED-8F1F-4738-A135-80C898087F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1" r:id="rId2"/>
    <p:sldLayoutId id="2147483663" r:id="rId3"/>
    <p:sldLayoutId id="2147483664" r:id="rId4"/>
    <p:sldLayoutId id="2147483696" r:id="rId5"/>
    <p:sldLayoutId id="2147483697" r:id="rId6"/>
    <p:sldLayoutId id="2147483698" r:id="rId7"/>
    <p:sldLayoutId id="214748369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bioproject/PRJNA45023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" y="1161673"/>
            <a:ext cx="9143999" cy="14100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Project 3</a:t>
            </a:r>
            <a:br>
              <a:rPr lang="en-US" sz="4000" dirty="0"/>
            </a:br>
            <a:r>
              <a:rPr lang="en-US" sz="4000" dirty="0"/>
              <a:t>Next generation sequencing </a:t>
            </a:r>
            <a:endParaRPr sz="40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901776" y="2739146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US" dirty="0" err="1"/>
              <a:t>GMRepo</a:t>
            </a:r>
            <a:r>
              <a:rPr lang="en-US" dirty="0"/>
              <a:t> Project  </a:t>
            </a:r>
            <a:r>
              <a:rPr lang="en-US" u="sng" dirty="0">
                <a:hlinkClick r:id="rId3"/>
              </a:rPr>
              <a:t>PRJNA450230</a:t>
            </a:r>
            <a:r>
              <a:rPr lang="en-US" u="sng" dirty="0"/>
              <a:t> </a:t>
            </a:r>
          </a:p>
          <a:p>
            <a:pPr>
              <a:spcBef>
                <a:spcPts val="533"/>
              </a:spcBef>
              <a:buClr>
                <a:schemeClr val="dk1"/>
              </a:buClr>
              <a:buSzPts val="1100"/>
            </a:pPr>
            <a:r>
              <a:rPr lang="en-US" dirty="0"/>
              <a:t> ”Gut microbiota as a potential therapeutic target and diagnostic biomarker for AITD (autoimmune thyroid disease)”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CEB22D2B-6F33-7574-1DE5-263E9EFB0726}"/>
              </a:ext>
            </a:extLst>
          </p:cNvPr>
          <p:cNvGrpSpPr/>
          <p:nvPr/>
        </p:nvGrpSpPr>
        <p:grpSpPr>
          <a:xfrm>
            <a:off x="4657963" y="446740"/>
            <a:ext cx="3539987" cy="4417894"/>
            <a:chOff x="4685806" y="-498246"/>
            <a:chExt cx="3895725" cy="502078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35583F0-C65C-A278-EC91-B0E0044F4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5806" y="531560"/>
              <a:ext cx="3895725" cy="399097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C43CB5-A6BC-E016-8CD3-8AD5CF23674B}"/>
                </a:ext>
              </a:extLst>
            </p:cNvPr>
            <p:cNvSpPr txBox="1"/>
            <p:nvPr/>
          </p:nvSpPr>
          <p:spPr>
            <a:xfrm>
              <a:off x="6126867" y="-498246"/>
              <a:ext cx="1296721" cy="34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Sample_file</a:t>
              </a:r>
              <a:endParaRPr 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168F6CA-675D-6331-3A89-09AFC5E0D671}"/>
              </a:ext>
            </a:extLst>
          </p:cNvPr>
          <p:cNvGrpSpPr/>
          <p:nvPr/>
        </p:nvGrpSpPr>
        <p:grpSpPr>
          <a:xfrm>
            <a:off x="1545326" y="449612"/>
            <a:ext cx="3101107" cy="4415022"/>
            <a:chOff x="1584698" y="-119367"/>
            <a:chExt cx="3101107" cy="441502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FEA40E-447E-3279-A2F9-B9EAEE745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4698" y="783861"/>
              <a:ext cx="3101107" cy="351179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EFE237-168F-AD01-79FA-459FD860BFF8}"/>
                </a:ext>
              </a:extLst>
            </p:cNvPr>
            <p:cNvSpPr txBox="1"/>
            <p:nvPr/>
          </p:nvSpPr>
          <p:spPr>
            <a:xfrm>
              <a:off x="2878327" y="-119367"/>
              <a:ext cx="10412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Metadata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F4D3AA-8D42-9563-75A4-C45C53DC6BA1}"/>
              </a:ext>
            </a:extLst>
          </p:cNvPr>
          <p:cNvGrpSpPr/>
          <p:nvPr/>
        </p:nvGrpSpPr>
        <p:grpSpPr>
          <a:xfrm>
            <a:off x="4646433" y="853175"/>
            <a:ext cx="3481555" cy="3992875"/>
            <a:chOff x="4765108" y="539433"/>
            <a:chExt cx="3481555" cy="39928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620187-F1D0-335B-5407-D23D285C3C23}"/>
                </a:ext>
              </a:extLst>
            </p:cNvPr>
            <p:cNvSpPr txBox="1"/>
            <p:nvPr/>
          </p:nvSpPr>
          <p:spPr>
            <a:xfrm>
              <a:off x="5559893" y="539433"/>
              <a:ext cx="2230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1206 columns: containing bacterial species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5D5E57D-3CB3-CC8D-B201-590E7C2D8216}"/>
                </a:ext>
              </a:extLst>
            </p:cNvPr>
            <p:cNvSpPr/>
            <p:nvPr/>
          </p:nvSpPr>
          <p:spPr>
            <a:xfrm>
              <a:off x="5422605" y="1043875"/>
              <a:ext cx="2824058" cy="216533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9DC2DB-9BEA-BDF6-96F3-C7A15D52F29C}"/>
                </a:ext>
              </a:extLst>
            </p:cNvPr>
            <p:cNvSpPr/>
            <p:nvPr/>
          </p:nvSpPr>
          <p:spPr>
            <a:xfrm>
              <a:off x="4765108" y="4278121"/>
              <a:ext cx="3158926" cy="254187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280B67-AF75-136B-CE1A-F6CEBDCB4999}"/>
              </a:ext>
            </a:extLst>
          </p:cNvPr>
          <p:cNvGrpSpPr/>
          <p:nvPr/>
        </p:nvGrpSpPr>
        <p:grpSpPr>
          <a:xfrm>
            <a:off x="80943" y="1725125"/>
            <a:ext cx="4565490" cy="471175"/>
            <a:chOff x="120316" y="1328518"/>
            <a:chExt cx="4565490" cy="471175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CDBB32-EF57-A847-D415-7AAD5FD6A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400" y="1328518"/>
              <a:ext cx="670299" cy="3077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7D4505-BD86-27AE-099D-250CB47822AB}"/>
                </a:ext>
              </a:extLst>
            </p:cNvPr>
            <p:cNvSpPr txBox="1"/>
            <p:nvPr/>
          </p:nvSpPr>
          <p:spPr>
            <a:xfrm>
              <a:off x="120316" y="1491916"/>
              <a:ext cx="883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Samples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C7673A-1D47-D8D8-CAAD-B65FD4325F41}"/>
                </a:ext>
              </a:extLst>
            </p:cNvPr>
            <p:cNvCxnSpPr/>
            <p:nvPr/>
          </p:nvCxnSpPr>
          <p:spPr>
            <a:xfrm>
              <a:off x="914400" y="1636295"/>
              <a:ext cx="37714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CE9C8B-7A29-E2BA-5CE3-E30B627760B0}"/>
              </a:ext>
            </a:extLst>
          </p:cNvPr>
          <p:cNvGrpSpPr/>
          <p:nvPr/>
        </p:nvGrpSpPr>
        <p:grpSpPr>
          <a:xfrm>
            <a:off x="2135348" y="853175"/>
            <a:ext cx="2522615" cy="735295"/>
            <a:chOff x="2082166" y="442728"/>
            <a:chExt cx="2522615" cy="73529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C4B873-0625-5832-E459-D672FD57FFC4}"/>
                </a:ext>
              </a:extLst>
            </p:cNvPr>
            <p:cNvSpPr txBox="1"/>
            <p:nvPr/>
          </p:nvSpPr>
          <p:spPr>
            <a:xfrm>
              <a:off x="2223088" y="442728"/>
              <a:ext cx="2381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variables: no. of reads, Phenotype (GD vs Health)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AC795B-70AC-663C-6743-180E844E347E}"/>
                </a:ext>
              </a:extLst>
            </p:cNvPr>
            <p:cNvSpPr/>
            <p:nvPr/>
          </p:nvSpPr>
          <p:spPr>
            <a:xfrm>
              <a:off x="2082166" y="942392"/>
              <a:ext cx="2448454" cy="235631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075BDD8-01A2-F0CE-FF46-E99E3151343D}"/>
              </a:ext>
            </a:extLst>
          </p:cNvPr>
          <p:cNvSpPr/>
          <p:nvPr/>
        </p:nvSpPr>
        <p:spPr>
          <a:xfrm>
            <a:off x="80943" y="363557"/>
            <a:ext cx="8975198" cy="4482493"/>
          </a:xfrm>
          <a:prstGeom prst="rect">
            <a:avLst/>
          </a:prstGeom>
          <a:solidFill>
            <a:srgbClr val="F5F2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328;p106">
            <a:extLst>
              <a:ext uri="{FF2B5EF4-FFF2-40B4-BE49-F238E27FC236}">
                <a16:creationId xmlns:a16="http://schemas.microsoft.com/office/drawing/2014/main" id="{063109CC-1C34-0A53-863F-DA17AE05136A}"/>
              </a:ext>
            </a:extLst>
          </p:cNvPr>
          <p:cNvSpPr txBox="1">
            <a:spLocks/>
          </p:cNvSpPr>
          <p:nvPr/>
        </p:nvSpPr>
        <p:spPr>
          <a:xfrm>
            <a:off x="87859" y="262182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MaAsLin2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7F1E8-13A2-33F1-D99D-9367B08E03E2}"/>
              </a:ext>
            </a:extLst>
          </p:cNvPr>
          <p:cNvGrpSpPr/>
          <p:nvPr/>
        </p:nvGrpSpPr>
        <p:grpSpPr>
          <a:xfrm>
            <a:off x="5244339" y="3664578"/>
            <a:ext cx="3073705" cy="624551"/>
            <a:chOff x="5993176" y="3393195"/>
            <a:chExt cx="3073705" cy="6245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11D875-69EE-2982-537B-647F10B08CAC}"/>
                </a:ext>
              </a:extLst>
            </p:cNvPr>
            <p:cNvSpPr txBox="1"/>
            <p:nvPr/>
          </p:nvSpPr>
          <p:spPr>
            <a:xfrm>
              <a:off x="6643171" y="3494526"/>
              <a:ext cx="24237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solidFill>
                    <a:srgbClr val="1F2328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 non-independence between samples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C83671-C8B7-844B-9C96-69850BB0DCDF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5993176" y="3393195"/>
              <a:ext cx="649995" cy="3629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46C794-2D4B-D6D1-CA9C-9D368B0C7878}"/>
              </a:ext>
            </a:extLst>
          </p:cNvPr>
          <p:cNvGrpSpPr/>
          <p:nvPr/>
        </p:nvGrpSpPr>
        <p:grpSpPr>
          <a:xfrm>
            <a:off x="778636" y="838224"/>
            <a:ext cx="7758654" cy="3542647"/>
            <a:chOff x="195524" y="1032313"/>
            <a:chExt cx="7758654" cy="354264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3ED26C-2CFD-2C29-A00E-ED3FF0FC0EB3}"/>
                </a:ext>
              </a:extLst>
            </p:cNvPr>
            <p:cNvSpPr txBox="1"/>
            <p:nvPr/>
          </p:nvSpPr>
          <p:spPr>
            <a:xfrm>
              <a:off x="195524" y="1712638"/>
              <a:ext cx="7758654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dirty="0">
                  <a:solidFill>
                    <a:srgbClr val="008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# Prevalence and abundance filtering in </a:t>
              </a:r>
              <a:r>
                <a:rPr lang="en-US" sz="1800" b="0" dirty="0" err="1">
                  <a:solidFill>
                    <a:srgbClr val="008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MaAsLin</a:t>
              </a:r>
              <a:r>
                <a:rPr lang="en-US" sz="1800" b="0" dirty="0">
                  <a:solidFill>
                    <a:srgbClr val="008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  <a:endPara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fit_data_filter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= Maaslin2(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input_data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    = 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samples_df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input_metadata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input_metadata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normalization  = 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"NONE"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output         = 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en-US" sz="1800" b="0" dirty="0" err="1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Prevalence_filter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fixed_effects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 =c(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en-US" sz="1800" b="0" dirty="0" err="1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associated_phenotyp</a:t>
              </a:r>
              <a:r>
                <a:rPr lang="en-US" sz="1800" dirty="0" err="1">
                  <a:solidFill>
                    <a:srgbClr val="A31515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reference      =c(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en-US" sz="1800" b="0" dirty="0" err="1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associated_phenotype,health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random_effects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= c(</a:t>
              </a:r>
              <a:r>
                <a:rPr lang="en-US" sz="1800" b="0" dirty="0">
                  <a:solidFill>
                    <a:srgbClr val="A31515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"subject"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min_prevalence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1800" b="0" dirty="0">
                  <a:solidFill>
                    <a:srgbClr val="098658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0.1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                           </a:t>
              </a:r>
              <a:r>
                <a:rPr lang="en-US" sz="1800" b="0" dirty="0" err="1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min_abundance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  = </a:t>
              </a:r>
              <a:r>
                <a:rPr lang="en-US" sz="1800" b="0" dirty="0">
                  <a:solidFill>
                    <a:srgbClr val="098658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0.0001</a:t>
              </a:r>
              <a:r>
                <a:rPr lang="en-US" sz="1800" b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49857F-35D4-C710-7532-D15CA0A23157}"/>
                </a:ext>
              </a:extLst>
            </p:cNvPr>
            <p:cNvSpPr txBox="1"/>
            <p:nvPr/>
          </p:nvSpPr>
          <p:spPr>
            <a:xfrm>
              <a:off x="195524" y="1032313"/>
              <a:ext cx="3572245" cy="738664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Fixed effects: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associated phenotype contains categorical data (GD vs Heath) impact on microbial abundance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AB624B6-B3CF-A117-688D-5F3E5773C397}"/>
                </a:ext>
              </a:extLst>
            </p:cNvPr>
            <p:cNvSpPr txBox="1"/>
            <p:nvPr/>
          </p:nvSpPr>
          <p:spPr>
            <a:xfrm>
              <a:off x="4282781" y="1137587"/>
              <a:ext cx="3572245" cy="523220"/>
            </a:xfrm>
            <a:prstGeom prst="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Reference: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comparison between Disease and Health phenotype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5101E3-9480-8830-08FA-F98FF2B9373D}"/>
              </a:ext>
            </a:extLst>
          </p:cNvPr>
          <p:cNvGrpSpPr/>
          <p:nvPr/>
        </p:nvGrpSpPr>
        <p:grpSpPr>
          <a:xfrm>
            <a:off x="321941" y="3920827"/>
            <a:ext cx="2423710" cy="992379"/>
            <a:chOff x="4383046" y="3592369"/>
            <a:chExt cx="2423710" cy="99237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427085-E496-B224-0A58-B2D10D3BF000}"/>
                </a:ext>
              </a:extLst>
            </p:cNvPr>
            <p:cNvSpPr txBox="1"/>
            <p:nvPr/>
          </p:nvSpPr>
          <p:spPr>
            <a:xfrm>
              <a:off x="4383046" y="4061528"/>
              <a:ext cx="24237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 only features with at least 10% non-zero values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141361A-CD77-980B-A65D-0EEFB0540A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465" y="3592369"/>
              <a:ext cx="587081" cy="5129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5899BE4-067A-AB80-9520-0EBD78344C0D}"/>
              </a:ext>
            </a:extLst>
          </p:cNvPr>
          <p:cNvSpPr txBox="1"/>
          <p:nvPr/>
        </p:nvSpPr>
        <p:spPr>
          <a:xfrm>
            <a:off x="8776185" y="4864634"/>
            <a:ext cx="400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268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>
            <a:spLocks noGrp="1"/>
          </p:cNvSpPr>
          <p:nvPr>
            <p:ph type="title"/>
          </p:nvPr>
        </p:nvSpPr>
        <p:spPr>
          <a:xfrm>
            <a:off x="0" y="333589"/>
            <a:ext cx="4572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pecie: </a:t>
            </a:r>
            <a:r>
              <a:rPr lang="en-US" sz="2400" b="0" i="1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Anaerostipes.butyraticus</a:t>
            </a:r>
            <a:r>
              <a:rPr lang="e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graph with a chart and text&#10;&#10;Description automatically generated with medium confidence">
            <a:extLst>
              <a:ext uri="{FF2B5EF4-FFF2-40B4-BE49-F238E27FC236}">
                <a16:creationId xmlns:a16="http://schemas.microsoft.com/office/drawing/2014/main" id="{F1EE4985-CFFB-A767-3218-D02941CF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82439"/>
            <a:ext cx="4240533" cy="424053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C2F3DD-0E81-9E13-69CD-6034D1A77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063058"/>
              </p:ext>
            </p:extLst>
          </p:nvPr>
        </p:nvGraphicFramePr>
        <p:xfrm>
          <a:off x="539827" y="1028809"/>
          <a:ext cx="3395341" cy="3596643"/>
        </p:xfrm>
        <a:graphic>
          <a:graphicData uri="http://schemas.openxmlformats.org/drawingml/2006/table">
            <a:tbl>
              <a:tblPr firstRow="1" bandRow="1">
                <a:tableStyleId>{E04253F3-95F6-40FD-9DF4-E374C2BB6FF9}</a:tableStyleId>
              </a:tblPr>
              <a:tblGrid>
                <a:gridCol w="1329092">
                  <a:extLst>
                    <a:ext uri="{9D8B030D-6E8A-4147-A177-3AD203B41FA5}">
                      <a16:colId xmlns:a16="http://schemas.microsoft.com/office/drawing/2014/main" val="3611979891"/>
                    </a:ext>
                  </a:extLst>
                </a:gridCol>
                <a:gridCol w="2066249">
                  <a:extLst>
                    <a:ext uri="{9D8B030D-6E8A-4147-A177-3AD203B41FA5}">
                      <a16:colId xmlns:a16="http://schemas.microsoft.com/office/drawing/2014/main" val="4061779927"/>
                    </a:ext>
                  </a:extLst>
                </a:gridCol>
              </a:tblGrid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Anaerostipes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4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butyraticus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2764948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associated_phenotype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3225236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graves disease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6613113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1.714554 (+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correlation)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2385278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0.238043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9574425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768472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N.Not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8167903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pval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1.06E-06 (Significant)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2158093"/>
                  </a:ext>
                </a:extLst>
              </a:tr>
              <a:tr h="399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qval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0.000171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089051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6CE8F56-C09A-4FFE-DA46-C6ED0DD29AF7}"/>
              </a:ext>
            </a:extLst>
          </p:cNvPr>
          <p:cNvSpPr/>
          <p:nvPr/>
        </p:nvSpPr>
        <p:spPr>
          <a:xfrm>
            <a:off x="30399" y="953915"/>
            <a:ext cx="9144000" cy="34975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likely that this species is more prevalent or has a higher abundance in individuals with Graves disease compared to healthy individuals. The positive correlation suggests that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Anaerostipes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butyraticus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play a role in the microbial composition associated with Graves disease.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8A112-54C3-1FA6-515D-41D8505FF692}"/>
              </a:ext>
            </a:extLst>
          </p:cNvPr>
          <p:cNvSpPr txBox="1"/>
          <p:nvPr/>
        </p:nvSpPr>
        <p:spPr>
          <a:xfrm>
            <a:off x="8776185" y="4864634"/>
            <a:ext cx="400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91440" y="305535"/>
            <a:ext cx="268002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" name="Google Shape;553;p66"/>
          <p:cNvSpPr txBox="1">
            <a:spLocks noGrp="1"/>
          </p:cNvSpPr>
          <p:nvPr>
            <p:ph type="subTitle" idx="1"/>
          </p:nvPr>
        </p:nvSpPr>
        <p:spPr>
          <a:xfrm>
            <a:off x="205739" y="3215255"/>
            <a:ext cx="8732520" cy="1622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Genus-level studies have been performed that negatively corelate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Anaerostipes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Graves disease and highlight the role in immune system regulation. 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this data is based on a limited sample size (n=10 per group) and further validation through larger studies and experimental investigations is necessary to establish a causal relationship between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Anaerostipes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butyraticus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Graves disease.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4BB183-EC0E-FFAE-A885-03C348041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2" y="859935"/>
            <a:ext cx="7191375" cy="2152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56771A-4C99-132E-A1B0-3814D3921851}"/>
              </a:ext>
            </a:extLst>
          </p:cNvPr>
          <p:cNvSpPr txBox="1"/>
          <p:nvPr/>
        </p:nvSpPr>
        <p:spPr>
          <a:xfrm>
            <a:off x="8776185" y="4864634"/>
            <a:ext cx="400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" grpId="0" build="p"/>
    </p:bld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8FCBED0FCFEE4F9C3466E55D698FDF" ma:contentTypeVersion="5" ma:contentTypeDescription="Create a new document." ma:contentTypeScope="" ma:versionID="c34a24981356212111bd49da7b7df0d4">
  <xsd:schema xmlns:xsd="http://www.w3.org/2001/XMLSchema" xmlns:xs="http://www.w3.org/2001/XMLSchema" xmlns:p="http://schemas.microsoft.com/office/2006/metadata/properties" xmlns:ns2="3aa77fdf-2ee6-40f5-8847-6b4964654633" targetNamespace="http://schemas.microsoft.com/office/2006/metadata/properties" ma:root="true" ma:fieldsID="20f2b696cb6ad6a6420bf94b3e1d97e5" ns2:_="">
    <xsd:import namespace="3aa77fdf-2ee6-40f5-8847-6b496465463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77fdf-2ee6-40f5-8847-6b496465463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5B0503-519F-4C01-AB54-6FE4120CE9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a77fdf-2ee6-40f5-8847-6b4964654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027E94-22F4-4A74-81AA-09B6567FA1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341</Words>
  <Application>Microsoft Office PowerPoint</Application>
  <PresentationFormat>On-screen Show (16:9)</PresentationFormat>
  <Paragraphs>51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Minimalist Business Slides XL by Slidesgo</vt:lpstr>
      <vt:lpstr>Project 3 Next generation sequencing </vt:lpstr>
      <vt:lpstr>PowerPoint Presentation</vt:lpstr>
      <vt:lpstr>Specie: Anaerostipes.butyraticus  </vt:lpstr>
      <vt:lpstr>Literature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 Next generation sequencing </dc:title>
  <cp:lastModifiedBy>NOOR ALI</cp:lastModifiedBy>
  <cp:revision>5</cp:revision>
  <dcterms:modified xsi:type="dcterms:W3CDTF">2026-05-18T07:26:39Z</dcterms:modified>
</cp:coreProperties>
</file>